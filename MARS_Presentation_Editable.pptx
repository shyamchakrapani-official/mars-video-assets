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</a:rPr>
              <a:t>DECEMBER 2024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5943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6B"/>
                </a:solidFill>
              </a:rPr>
              <a:t>A Ransomware Attack Brought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A3A6B"/>
                </a:solidFill>
              </a:rPr>
              <a:t>Retail Operations to a Halt.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26517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359152"/>
            <a:ext cx="265176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H&amp;M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752710"/>
            <a:ext cx="26517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SYSTEM DOWN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6517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359152"/>
            <a:ext cx="265176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American Eagle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752710"/>
            <a:ext cx="26517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SYSTEM DOWN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2286000"/>
            <a:ext cx="26517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2359152"/>
            <a:ext cx="265176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Pottery Barn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2752710"/>
            <a:ext cx="26517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SYSTEM DOWN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26517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00984"/>
            <a:ext cx="265176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Pottery Barn Kids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694542"/>
            <a:ext cx="26517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SYSTEM DOWN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227832"/>
            <a:ext cx="26517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300984"/>
            <a:ext cx="265176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West Elm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694542"/>
            <a:ext cx="26517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SYSTEM DOWN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227832"/>
            <a:ext cx="26517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300984"/>
            <a:ext cx="265176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6B"/>
                </a:solidFill>
              </a:rPr>
              <a:t>Williams-Sonoma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3694542"/>
            <a:ext cx="265176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SYSTEM DOWN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Blue Yonder — the backbone of retail allocation — went dark.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A6B"/>
                </a:solidFill>
              </a:rPr>
              <a:t>Operations Reverted to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1A3A6B"/>
                </a:solidFill>
              </a:rPr>
              <a:t>Manual Excel Processes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5FA6"/>
                </a:solidFill>
              </a:rPr>
              <a:t>Every allocation. Every replenishment. Done manually in spreadsheets.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2514600"/>
            <a:ext cx="1920240" cy="594360"/>
          </a:xfrm>
          <a:prstGeom prst="rect">
            <a:avLst/>
          </a:prstGeom>
          <a:solidFill>
            <a:srgbClr val="FFEEE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14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F4444"/>
                </a:solidFill>
              </a:rPr>
              <a:t>✗ Time-consuming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14600" y="2514600"/>
            <a:ext cx="1920240" cy="594360"/>
          </a:xfrm>
          <a:prstGeom prst="rect">
            <a:avLst/>
          </a:prstGeom>
          <a:solidFill>
            <a:srgbClr val="FFEEE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2514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F4444"/>
                </a:solidFill>
              </a:rPr>
              <a:t>✗ Error-prone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2514600"/>
            <a:ext cx="1920240" cy="594360"/>
          </a:xfrm>
          <a:prstGeom prst="rect">
            <a:avLst/>
          </a:prstGeom>
          <a:solidFill>
            <a:srgbClr val="FFEEE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514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F4444"/>
                </a:solidFill>
              </a:rPr>
              <a:t>✗ No visibility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2514600"/>
            <a:ext cx="1920240" cy="594360"/>
          </a:xfrm>
          <a:prstGeom prst="rect">
            <a:avLst/>
          </a:prstGeom>
          <a:solidFill>
            <a:srgbClr val="FFEEE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514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F4444"/>
                </a:solidFill>
              </a:rPr>
              <a:t>✗ Not scalable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Every allocation. Every replenishment. Done manually in spreadsheets.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5FA6"/>
                </a:solidFill>
              </a:rPr>
              <a:t>The Enterprise Solutions team responded immediately.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1A3A6B"/>
                </a:solidFill>
              </a:rPr>
              <a:t>M A R 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5FA6"/>
                </a:solidFill>
              </a:rPr>
              <a:t>Merchandise Allocation &amp; Replenishment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  Launched February 2025 — within 60 days of outage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520440"/>
            <a:ext cx="192024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520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 Built in-house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0592" y="3520440"/>
            <a:ext cx="192024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3520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 Excel migration support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26864" y="3520440"/>
            <a:ext cx="192024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3520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 52 Alshaya brands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03136" y="3520440"/>
            <a:ext cx="192024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3520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✓ GCC-wide coverage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7772400" cy="3840480"/>
          </a:xfrm>
          <a:prstGeom prst="rect">
            <a:avLst/>
          </a:prstGeom>
          <a:solidFill>
            <a:srgbClr val="E8EEF8"/>
          </a:solidFill>
          <a:ln w="19050">
            <a:solidFill>
              <a:srgbClr val="2B5FA6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B5FA6"/>
                </a:solidFill>
              </a:rPr>
              <a:t>[ Insert MARS UI Walkthrough Video Here ]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See MARS in action — built for the way brands actually work.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6B"/>
                </a:solidFill>
              </a:rPr>
              <a:t>⚙️  Custom Allocation Policy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7373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5FA6"/>
                </a:solidFill>
              </a:rPr>
              <a:t>Brand-specific variables drive personalised allocations and store transfers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411480"/>
            <a:ext cx="4069080" cy="3931920"/>
          </a:xfrm>
          <a:prstGeom prst="rect">
            <a:avLst/>
          </a:prstGeom>
          <a:solidFill>
            <a:srgbClr val="E8EEF8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411480"/>
            <a:ext cx="4069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5FA6"/>
                </a:solidFill>
              </a:rPr>
              <a:t>[ Allocation Policy Configuration Screen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Custom policies let each brand allocate on their own terms.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6B"/>
                </a:solidFill>
              </a:rPr>
              <a:t>📦  Multi-Step Allocation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7373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5FA6"/>
                </a:solidFill>
              </a:rPr>
              <a:t>Allocate to stores AND DCs in one go — two strategies, zero duplication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411480"/>
            <a:ext cx="4069080" cy="3931920"/>
          </a:xfrm>
          <a:prstGeom prst="rect">
            <a:avLst/>
          </a:prstGeom>
          <a:solidFill>
            <a:srgbClr val="E8EEF8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411480"/>
            <a:ext cx="4069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5FA6"/>
                </a:solidFill>
              </a:rPr>
              <a:t>[ Multi-Step Allocation Engine Screen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One action. Two allocation strategies. Maximum efficiency.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00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6B"/>
                </a:solidFill>
              </a:rPr>
              <a:t>🗺️  DC Split Configuration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7373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5FA6"/>
                </a:solidFill>
              </a:rPr>
              <a:t>Pre-configured splits automatically route stock to Kuwait, KSA, Bahrain, Qatar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0" y="411480"/>
            <a:ext cx="4069080" cy="3931920"/>
          </a:xfrm>
          <a:prstGeom prst="rect">
            <a:avLst/>
          </a:prstGeom>
          <a:solidFill>
            <a:srgbClr val="E8EEF8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411480"/>
            <a:ext cx="4069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5FA6"/>
                </a:solidFill>
              </a:rPr>
              <a:t>[ GCC Map — UAE to Kuwait, KSA, Bahrain, Qatar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Stock distributed across GCC markets —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6B"/>
                </a:solidFill>
              </a:rPr>
              <a:t>From Chaos to Seamless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👗👔👕👗👔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4604A"/>
                </a:solidFill>
              </a:rPr>
              <a:t>16.2M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6B"/>
                </a:solidFill>
              </a:rPr>
              <a:t>Units Allocated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📦📦📦📦📦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1508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B5FA6"/>
                </a:solidFill>
              </a:rPr>
              <a:t>1,500+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9184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6B"/>
                </a:solidFill>
              </a:rPr>
              <a:t>ASNs Executed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📄📋📝📄📋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0" y="1508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2C55E"/>
                </a:solidFill>
              </a:rPr>
              <a:t>78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6B"/>
                </a:solidFill>
              </a:rPr>
              <a:t>CRs Delivered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February 2025 → June 2026  ·  All Alshaya fashion brands  ·  GCC-wide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16.2 million units. 1,500+ ASNs. All delivered seamlessly through MARS.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A6B"/>
                </a:solidFill>
              </a:rPr>
              <a:t>The Right Stock.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604A"/>
                </a:solidFill>
              </a:rPr>
              <a:t>The Right Store. The Right Time.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4320" y="2286000"/>
            <a:ext cx="1920240" cy="822960"/>
          </a:xfrm>
          <a:prstGeom prst="rect">
            <a:avLst/>
          </a:prstGeom>
          <a:solidFill>
            <a:srgbClr val="F0F4FB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286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6B"/>
                </a:solidFill>
              </a:rPr>
              <a:t>16.2M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A6B"/>
                </a:solidFill>
              </a:rPr>
              <a:t>Units Allocated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50592" y="2286000"/>
            <a:ext cx="1920240" cy="822960"/>
          </a:xfrm>
          <a:prstGeom prst="rect">
            <a:avLst/>
          </a:prstGeom>
          <a:solidFill>
            <a:srgbClr val="F0F4FB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2286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6B"/>
                </a:solidFill>
              </a:rPr>
              <a:t>1,500+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A6B"/>
                </a:solidFill>
              </a:rPr>
              <a:t>ASNs Executed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26864" y="2286000"/>
            <a:ext cx="1920240" cy="822960"/>
          </a:xfrm>
          <a:prstGeom prst="rect">
            <a:avLst/>
          </a:prstGeom>
          <a:solidFill>
            <a:srgbClr val="F0F4FB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2286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6B"/>
                </a:solidFill>
              </a:rPr>
              <a:t>52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A6B"/>
                </a:solidFill>
              </a:rPr>
              <a:t>Brands Covered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03136" y="2286000"/>
            <a:ext cx="1920240" cy="822960"/>
          </a:xfrm>
          <a:prstGeom prst="rect">
            <a:avLst/>
          </a:prstGeom>
          <a:solidFill>
            <a:srgbClr val="F0F4FB"/>
          </a:solidFill>
          <a:ln w="12700">
            <a:solidFill>
              <a:srgbClr val="2B5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3136" y="2286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6B"/>
                </a:solidFill>
              </a:rPr>
              <a:t>78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3A6B"/>
                </a:solidFill>
              </a:rPr>
              <a:t>CRs Delivered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5FA6"/>
                </a:solidFill>
              </a:rPr>
              <a:t>Built by Enterprise Solutions at M.H. Alshaya Group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</a:rPr>
              <a:t>MARS — Empowering Supply Chain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2026-06-11T07:32:28Z</dcterms:created>
  <dcterms:modified xsi:type="dcterms:W3CDTF">2026-06-11T07:32:28Z</dcterms:modified>
</cp:coreProperties>
</file>